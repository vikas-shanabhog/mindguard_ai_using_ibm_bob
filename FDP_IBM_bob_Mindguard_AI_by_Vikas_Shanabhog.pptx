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gm4Fwi5bmpc8XXODTanJpWk6iF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5DA744-D485-4309-9091-5B1F540E1B93}">
  <a:tblStyle styleId="{605DA744-D485-4309-9091-5B1F540E1B9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827d8da96_1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3f827d8da96_1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827d8da96_1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g3f827d8da96_1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f827d8da96_1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g3f827d8da96_1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IBM Bob”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332432" y="2600315"/>
          <a:ext cx="3000000" cy="3000000"/>
        </p:xfrm>
        <a:graphic>
          <a:graphicData uri="http://schemas.openxmlformats.org/drawingml/2006/table">
            <a:tbl>
              <a:tblPr>
                <a:noFill/>
                <a:tableStyleId>{605DA744-D485-4309-9091-5B1F540E1B93}</a:tableStyleId>
              </a:tblPr>
              <a:tblGrid>
                <a:gridCol w="2518375"/>
                <a:gridCol w="2979975"/>
                <a:gridCol w="2979975"/>
                <a:gridCol w="2979975"/>
              </a:tblGrid>
              <a:tr h="10806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325725">
                <a:tc>
                  <a:txBody>
                    <a:bodyPr/>
                    <a:lstStyle/>
                    <a:p>
                      <a:pPr indent="0" lvl="0" marL="0" marR="0" rtl="0" algn="l">
                        <a:lnSpc>
                          <a:spcPct val="100000"/>
                        </a:lnSpc>
                        <a:spcBef>
                          <a:spcPts val="0"/>
                        </a:spcBef>
                        <a:spcAft>
                          <a:spcPts val="0"/>
                        </a:spcAft>
                        <a:buClr>
                          <a:srgbClr val="000000"/>
                        </a:buClr>
                        <a:buSzPts val="1400"/>
                        <a:buFont typeface="Arial"/>
                        <a:buNone/>
                      </a:pPr>
                      <a:r>
                        <a:rPr lang="en-US"/>
                        <a:t>Vikas. Shanabhog</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2"/>
          <p:cNvSpPr txBox="1"/>
          <p:nvPr/>
        </p:nvSpPr>
        <p:spPr>
          <a:xfrm>
            <a:off x="1206164" y="1460724"/>
            <a:ext cx="1028025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 </a:t>
            </a:r>
            <a:r>
              <a:rPr b="1" lang="en-US" sz="2400"/>
              <a:t>Health care</a:t>
            </a:r>
            <a:endParaRPr b="1" i="0" sz="2400" u="none" cap="none" strike="noStrike">
              <a:solidFill>
                <a:srgbClr val="000000"/>
              </a:solidFill>
              <a:latin typeface="Arial"/>
              <a:ea typeface="Arial"/>
              <a:cs typeface="Arial"/>
              <a:sym typeface="Arial"/>
            </a:endParaRPr>
          </a:p>
        </p:txBody>
      </p:sp>
      <p:sp>
        <p:nvSpPr>
          <p:cNvPr id="88" name="Google Shape;88;p2"/>
          <p:cNvSpPr txBox="1"/>
          <p:nvPr/>
        </p:nvSpPr>
        <p:spPr>
          <a:xfrm>
            <a:off x="1206162" y="551965"/>
            <a:ext cx="958117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Tile – </a:t>
            </a:r>
            <a:r>
              <a:rPr b="1" i="0" lang="en-US" sz="2400" u="none" cap="none" strike="noStrike">
                <a:solidFill>
                  <a:srgbClr val="000000"/>
                </a:solidFill>
                <a:highlight>
                  <a:srgbClr val="FFFF00"/>
                </a:highlight>
                <a:latin typeface="Arial"/>
                <a:ea typeface="Arial"/>
                <a:cs typeface="Arial"/>
                <a:sym typeface="Arial"/>
              </a:rPr>
              <a:t>[</a:t>
            </a:r>
            <a:r>
              <a:rPr b="1" i="0" lang="en-US" sz="2400" u="none" cap="none" strike="noStrike">
                <a:solidFill>
                  <a:srgbClr val="002060"/>
                </a:solidFill>
                <a:highlight>
                  <a:srgbClr val="FFFF00"/>
                </a:highlight>
                <a:latin typeface="Times New Roman"/>
                <a:ea typeface="Times New Roman"/>
                <a:cs typeface="Times New Roman"/>
                <a:sym typeface="Times New Roman"/>
              </a:rPr>
              <a:t>Write your project title here</a:t>
            </a:r>
            <a:r>
              <a:rPr b="1" i="0" lang="en-US" sz="2400" u="none" cap="none" strike="noStrike">
                <a:solidFill>
                  <a:srgbClr val="000000"/>
                </a:solidFill>
                <a:highlight>
                  <a:srgbClr val="FFFF00"/>
                </a:highlight>
                <a:latin typeface="Arial"/>
                <a:ea typeface="Arial"/>
                <a:cs typeface="Arial"/>
                <a:sym typeface="Arial"/>
              </a:rPr>
              <a:t>]</a:t>
            </a:r>
            <a:endParaRPr b="1" i="0" sz="2400" u="none" cap="none" strike="noStrike">
              <a:solidFill>
                <a:srgbClr val="000000"/>
              </a:solidFill>
              <a:highlight>
                <a:srgbClr val="FFFF00"/>
              </a:highlight>
              <a:latin typeface="Arial"/>
              <a:ea typeface="Arial"/>
              <a:cs typeface="Arial"/>
              <a:sym typeface="Arial"/>
            </a:endParaRPr>
          </a:p>
        </p:txBody>
      </p:sp>
      <p:pic>
        <p:nvPicPr>
          <p:cNvPr id="89" name="Google Shape;89;p2" title="WhatsApp Image 2026-07-16 at 9.38.02 AM.jpeg"/>
          <p:cNvPicPr preferRelativeResize="0"/>
          <p:nvPr/>
        </p:nvPicPr>
        <p:blipFill>
          <a:blip r:embed="rId3">
            <a:alphaModFix/>
          </a:blip>
          <a:stretch>
            <a:fillRect/>
          </a:stretch>
        </p:blipFill>
        <p:spPr>
          <a:xfrm>
            <a:off x="3988199" y="3646950"/>
            <a:ext cx="733225" cy="977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4"/>
          <p:cNvSpPr txBox="1"/>
          <p:nvPr/>
        </p:nvSpPr>
        <p:spPr>
          <a:xfrm>
            <a:off x="576072" y="1234440"/>
            <a:ext cx="10607100" cy="5588700"/>
          </a:xfrm>
          <a:prstGeom prst="rect">
            <a:avLst/>
          </a:prstGeom>
          <a:noFill/>
          <a:ln>
            <a:noFill/>
          </a:ln>
        </p:spPr>
        <p:txBody>
          <a:bodyPr anchorCtr="0" anchor="t" bIns="45700" lIns="91425" spcFirstLastPara="1" rIns="91425" wrap="square" tIns="45700">
            <a:spAutoFit/>
          </a:bodyPr>
          <a:lstStyle/>
          <a:p>
            <a:pPr indent="-323850" lvl="0" marL="457200" rtl="0" algn="just">
              <a:lnSpc>
                <a:spcPct val="115000"/>
              </a:lnSpc>
              <a:spcBef>
                <a:spcPts val="0"/>
              </a:spcBef>
              <a:spcAft>
                <a:spcPts val="0"/>
              </a:spcAft>
              <a:buSzPts val="1500"/>
              <a:buChar char="•"/>
            </a:pPr>
            <a:r>
              <a:rPr b="1" lang="en-US" sz="1500">
                <a:solidFill>
                  <a:schemeClr val="dk1"/>
                </a:solidFill>
              </a:rPr>
              <a:t>Problem Statement: Agentic AI for Mental Health Awareness &amp; Suicide Prevention</a:t>
            </a:r>
            <a:endParaRPr b="1" sz="1500">
              <a:solidFill>
                <a:schemeClr val="dk1"/>
              </a:solidFill>
            </a:endParaRPr>
          </a:p>
          <a:p>
            <a:pPr indent="-323850" lvl="0" marL="457200" rtl="0" algn="just">
              <a:lnSpc>
                <a:spcPct val="115000"/>
              </a:lnSpc>
              <a:spcBef>
                <a:spcPts val="0"/>
              </a:spcBef>
              <a:spcAft>
                <a:spcPts val="0"/>
              </a:spcAft>
              <a:buSzPts val="1500"/>
              <a:buChar char="•"/>
            </a:pPr>
            <a:r>
              <a:rPr b="1" lang="en-US" sz="1500">
                <a:solidFill>
                  <a:schemeClr val="dk1"/>
                </a:solidFill>
              </a:rPr>
              <a:t>The Challenge</a:t>
            </a:r>
            <a:endParaRPr b="1" sz="1500">
              <a:solidFill>
                <a:schemeClr val="dk1"/>
              </a:solidFill>
            </a:endParaRPr>
          </a:p>
          <a:p>
            <a:pPr indent="0" lvl="0" marL="457200" rtl="0" algn="just">
              <a:lnSpc>
                <a:spcPct val="115000"/>
              </a:lnSpc>
              <a:spcBef>
                <a:spcPts val="0"/>
              </a:spcBef>
              <a:spcAft>
                <a:spcPts val="0"/>
              </a:spcAft>
              <a:buNone/>
            </a:pPr>
            <a:r>
              <a:rPr lang="en-US" sz="1500">
                <a:solidFill>
                  <a:schemeClr val="dk1"/>
                </a:solidFill>
              </a:rPr>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a:t>
            </a:r>
            <a:endParaRPr sz="1500">
              <a:solidFill>
                <a:schemeClr val="dk1"/>
              </a:solidFill>
            </a:endParaRPr>
          </a:p>
          <a:p>
            <a:pPr indent="-323850" lvl="0" marL="457200" rtl="0" algn="just">
              <a:lnSpc>
                <a:spcPct val="115000"/>
              </a:lnSpc>
              <a:spcBef>
                <a:spcPts val="800"/>
              </a:spcBef>
              <a:spcAft>
                <a:spcPts val="0"/>
              </a:spcAft>
              <a:buSzPts val="1500"/>
              <a:buChar char="•"/>
            </a:pPr>
            <a:r>
              <a:rPr b="1" lang="en-US" sz="1500">
                <a:solidFill>
                  <a:schemeClr val="dk1"/>
                </a:solidFill>
              </a:rPr>
              <a:t>The Objective     	</a:t>
            </a:r>
            <a:endParaRPr b="1" sz="1500">
              <a:solidFill>
                <a:schemeClr val="dk1"/>
              </a:solidFill>
            </a:endParaRPr>
          </a:p>
          <a:p>
            <a:pPr indent="0" lvl="0" marL="457200" rtl="0" algn="just">
              <a:lnSpc>
                <a:spcPct val="115000"/>
              </a:lnSpc>
              <a:spcBef>
                <a:spcPts val="0"/>
              </a:spcBef>
              <a:spcAft>
                <a:spcPts val="0"/>
              </a:spcAft>
              <a:buNone/>
            </a:pPr>
            <a:r>
              <a:rPr lang="en-US" sz="1500">
                <a:solidFill>
                  <a:schemeClr val="dk1"/>
                </a:solidFill>
              </a:rPr>
              <a:t>Build an Agentic AI-powered Mental Health Awareness &amp; Suicide Prevention Agent that is empathetic, proactive, and safe. The solution should:</a:t>
            </a:r>
            <a:endParaRPr sz="1500">
              <a:solidFill>
                <a:schemeClr val="dk1"/>
              </a:solidFill>
            </a:endParaRPr>
          </a:p>
          <a:p>
            <a:pPr indent="0" lvl="0" marL="914400" rtl="0" algn="just">
              <a:lnSpc>
                <a:spcPct val="115000"/>
              </a:lnSpc>
              <a:spcBef>
                <a:spcPts val="0"/>
              </a:spcBef>
              <a:spcAft>
                <a:spcPts val="0"/>
              </a:spcAft>
              <a:buNone/>
            </a:pPr>
            <a:r>
              <a:rPr lang="en-US" sz="1500">
                <a:solidFill>
                  <a:schemeClr val="dk1"/>
                </a:solidFill>
              </a:rPr>
              <a:t>1.    </a:t>
            </a:r>
            <a:r>
              <a:rPr b="1" lang="en-US" sz="1500">
                <a:solidFill>
                  <a:schemeClr val="dk1"/>
                </a:solidFill>
              </a:rPr>
              <a:t>Promote Awareness &amp; Education </a:t>
            </a:r>
            <a:r>
              <a:rPr lang="en-US" sz="1500">
                <a:solidFill>
                  <a:schemeClr val="dk1"/>
                </a:solidFill>
              </a:rPr>
              <a:t>– Share accessible resources on mindfulness, coping strategies, and self-care.</a:t>
            </a:r>
            <a:endParaRPr sz="1500">
              <a:solidFill>
                <a:schemeClr val="dk1"/>
              </a:solidFill>
            </a:endParaRPr>
          </a:p>
          <a:p>
            <a:pPr indent="0" lvl="0" marL="914400" rtl="0" algn="just">
              <a:lnSpc>
                <a:spcPct val="115000"/>
              </a:lnSpc>
              <a:spcBef>
                <a:spcPts val="0"/>
              </a:spcBef>
              <a:spcAft>
                <a:spcPts val="0"/>
              </a:spcAft>
              <a:buNone/>
            </a:pPr>
            <a:r>
              <a:rPr lang="en-US" sz="1500">
                <a:solidFill>
                  <a:schemeClr val="dk1"/>
                </a:solidFill>
              </a:rPr>
              <a:t>2.    </a:t>
            </a:r>
            <a:r>
              <a:rPr b="1" lang="en-US" sz="1500">
                <a:solidFill>
                  <a:schemeClr val="dk1"/>
                </a:solidFill>
              </a:rPr>
              <a:t>Enable Early Detection (RAG) </a:t>
            </a:r>
            <a:r>
              <a:rPr lang="en-US" sz="1500">
                <a:solidFill>
                  <a:schemeClr val="dk1"/>
                </a:solidFill>
              </a:rPr>
              <a:t>– Use Retrieval-Augmented Generation to identify distress signals in conversations, journaling inputs, or safe online data.</a:t>
            </a:r>
            <a:endParaRPr sz="1500">
              <a:solidFill>
                <a:schemeClr val="dk1"/>
              </a:solidFill>
            </a:endParaRPr>
          </a:p>
          <a:p>
            <a:pPr indent="0" lvl="0" marL="914400" rtl="0" algn="just">
              <a:lnSpc>
                <a:spcPct val="115000"/>
              </a:lnSpc>
              <a:spcBef>
                <a:spcPts val="0"/>
              </a:spcBef>
              <a:spcAft>
                <a:spcPts val="0"/>
              </a:spcAft>
              <a:buNone/>
            </a:pPr>
            <a:r>
              <a:rPr lang="en-US" sz="1500">
                <a:solidFill>
                  <a:schemeClr val="dk1"/>
                </a:solidFill>
              </a:rPr>
              <a:t>3.    </a:t>
            </a:r>
            <a:r>
              <a:rPr b="1" lang="en-US" sz="1500">
                <a:solidFill>
                  <a:schemeClr val="dk1"/>
                </a:solidFill>
              </a:rPr>
              <a:t>Provide Empathetic Support – </a:t>
            </a:r>
            <a:r>
              <a:rPr lang="en-US" sz="1500">
                <a:solidFill>
                  <a:schemeClr val="dk1"/>
                </a:solidFill>
              </a:rPr>
              <a:t>Build a conversational agent that listens actively and responds with empathy (with clear disclaimers: not a substitute for professional medical advice).</a:t>
            </a:r>
            <a:endParaRPr sz="1500">
              <a:solidFill>
                <a:schemeClr val="dk1"/>
              </a:solidFill>
            </a:endParaRPr>
          </a:p>
          <a:p>
            <a:pPr indent="0" lvl="0" marL="914400" rtl="0" algn="just">
              <a:lnSpc>
                <a:spcPct val="115000"/>
              </a:lnSpc>
              <a:spcBef>
                <a:spcPts val="0"/>
              </a:spcBef>
              <a:spcAft>
                <a:spcPts val="0"/>
              </a:spcAft>
              <a:buNone/>
            </a:pPr>
            <a:r>
              <a:rPr lang="en-US" sz="1500">
                <a:solidFill>
                  <a:schemeClr val="dk1"/>
                </a:solidFill>
              </a:rPr>
              <a:t>4.    </a:t>
            </a:r>
            <a:r>
              <a:rPr b="1" lang="en-US" sz="1500">
                <a:solidFill>
                  <a:schemeClr val="dk1"/>
                </a:solidFill>
              </a:rPr>
              <a:t>Predict &amp; Prevent Risks – </a:t>
            </a:r>
            <a:r>
              <a:rPr lang="en-US" sz="1500">
                <a:solidFill>
                  <a:schemeClr val="dk1"/>
                </a:solidFill>
              </a:rPr>
              <a:t>Forecast stress peaks, suggest preventive strategies, and issue alerts when high-risk signals are detected (with consent).</a:t>
            </a:r>
            <a:endParaRPr sz="1500">
              <a:solidFill>
                <a:schemeClr val="dk1"/>
              </a:solidFill>
            </a:endParaRPr>
          </a:p>
          <a:p>
            <a:pPr indent="0" lvl="0" marL="914400" rtl="0" algn="just">
              <a:lnSpc>
                <a:spcPct val="115000"/>
              </a:lnSpc>
              <a:spcBef>
                <a:spcPts val="0"/>
              </a:spcBef>
              <a:spcAft>
                <a:spcPts val="0"/>
              </a:spcAft>
              <a:buNone/>
            </a:pPr>
            <a:r>
              <a:rPr lang="en-US" sz="1500">
                <a:solidFill>
                  <a:schemeClr val="dk1"/>
                </a:solidFill>
              </a:rPr>
              <a:t>5.    </a:t>
            </a:r>
            <a:r>
              <a:rPr b="1" lang="en-US" sz="1500">
                <a:solidFill>
                  <a:schemeClr val="dk1"/>
                </a:solidFill>
              </a:rPr>
              <a:t>Connect to Human Support – </a:t>
            </a:r>
            <a:r>
              <a:rPr lang="en-US" sz="1500">
                <a:solidFill>
                  <a:schemeClr val="dk1"/>
                </a:solidFill>
              </a:rPr>
              <a:t>Link users to helplines, counselors, or community support for timely intervention.</a:t>
            </a:r>
            <a:endParaRPr sz="1500">
              <a:solidFill>
                <a:schemeClr val="dk1"/>
              </a:solidFill>
            </a:endParaRPr>
          </a:p>
          <a:p>
            <a:pPr indent="-323850" lvl="0" marL="457200" rtl="0" algn="just">
              <a:lnSpc>
                <a:spcPct val="115000"/>
              </a:lnSpc>
              <a:spcBef>
                <a:spcPts val="800"/>
              </a:spcBef>
              <a:spcAft>
                <a:spcPts val="0"/>
              </a:spcAft>
              <a:buClr>
                <a:schemeClr val="dk1"/>
              </a:buClr>
              <a:buSzPts val="1500"/>
              <a:buChar char="•"/>
            </a:pPr>
            <a:r>
              <a:rPr b="1" lang="en-US" sz="1500">
                <a:solidFill>
                  <a:schemeClr val="dk1"/>
                </a:solidFill>
              </a:rPr>
              <a:t>Tech Stack (Mandatory)</a:t>
            </a:r>
            <a:endParaRPr b="1" sz="1500">
              <a:solidFill>
                <a:schemeClr val="dk1"/>
              </a:solidFill>
            </a:endParaRPr>
          </a:p>
          <a:p>
            <a:pPr indent="0" lvl="0" marL="457200" marR="0" rtl="0" algn="just">
              <a:lnSpc>
                <a:spcPct val="100000"/>
              </a:lnSpc>
              <a:spcBef>
                <a:spcPts val="0"/>
              </a:spcBef>
              <a:spcAft>
                <a:spcPts val="0"/>
              </a:spcAft>
              <a:buNone/>
            </a:pPr>
            <a:r>
              <a:rPr lang="en-US" sz="1500">
                <a:solidFill>
                  <a:schemeClr val="dk1"/>
                </a:solidFill>
              </a:rPr>
              <a:t>IBM Langflow / IBM Orchestrate + IBM Models </a:t>
            </a:r>
            <a:r>
              <a:rPr i="0" lang="en-US" sz="1600" u="none" cap="none" strike="noStrike">
                <a:solidFill>
                  <a:srgbClr val="000000"/>
                </a:solidFill>
              </a:rPr>
              <a:t> </a:t>
            </a:r>
            <a:endParaRPr b="0" i="0" sz="1500" u="none" cap="none" strike="noStrike">
              <a:solidFill>
                <a:srgbClr val="000000"/>
              </a:solidFill>
              <a:latin typeface="Arial"/>
              <a:ea typeface="Arial"/>
              <a:cs typeface="Arial"/>
              <a:sym typeface="Arial"/>
            </a:endParaRPr>
          </a:p>
        </p:txBody>
      </p:sp>
      <p:sp>
        <p:nvSpPr>
          <p:cNvPr id="95" name="Google Shape;95;p34"/>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5"/>
          <p:cNvSpPr txBox="1"/>
          <p:nvPr/>
        </p:nvSpPr>
        <p:spPr>
          <a:xfrm>
            <a:off x="576072" y="1234440"/>
            <a:ext cx="10607100" cy="5002500"/>
          </a:xfrm>
          <a:prstGeom prst="rect">
            <a:avLst/>
          </a:prstGeom>
          <a:noFill/>
          <a:ln>
            <a:noFill/>
          </a:ln>
        </p:spPr>
        <p:txBody>
          <a:bodyPr anchorCtr="0" anchor="t" bIns="45700" lIns="91425" spcFirstLastPara="1" rIns="91425" wrap="square" tIns="45700">
            <a:spAutoFit/>
          </a:bodyPr>
          <a:lstStyle/>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MindCare AI is an Agentic AI mental wellness assistant built using IBM Orchestrate, IBM Langflow, and IBM Granite Models to provide intelligent, coordinated mental health support.</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It promotes mental health awareness through personalized self-care tips, mindfulness exercises, and RAG-based evidence-backed guidance from trusted mental health resources.</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The system analyzes conversations, journal entries, mood logs, sleep patterns, and optional wearable data (with user consent) to detect early signs of stress, anxiety, depression, and burnout.</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It provides empathetic, non-judgmental support and proactively predicts mental health risks, while clearly stating that it is not a substitute for professional medical care.</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In high-risk situations, the AI safely escalates users to helplines, counselors, or trusted contacts (with consent), while ensuring privacy, encryption, and responsible AI safety guardrails.</a:t>
            </a:r>
            <a:endParaRPr sz="2300">
              <a:solidFill>
                <a:schemeClr val="dk1"/>
              </a:solidFill>
            </a:endParaRPr>
          </a:p>
        </p:txBody>
      </p:sp>
      <p:sp>
        <p:nvSpPr>
          <p:cNvPr id="101" name="Google Shape;101;p3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7" name="Google Shape;107;p36"/>
          <p:cNvSpPr txBox="1"/>
          <p:nvPr/>
        </p:nvSpPr>
        <p:spPr>
          <a:xfrm>
            <a:off x="777240" y="1207008"/>
            <a:ext cx="10515600" cy="5509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Bob platform </a:t>
            </a:r>
            <a:r>
              <a:rPr b="0" i="0" lang="en-US" sz="1800" u="none" cap="none" strike="noStrike">
                <a:solidFill>
                  <a:srgbClr val="000000"/>
                </a:solidFill>
                <a:latin typeface="Arial"/>
                <a:ea typeface="Arial"/>
                <a:cs typeface="Arial"/>
                <a:sym typeface="Arial"/>
              </a:rPr>
              <a:t>-For designing and orchestrating multi-agent workflows visually</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Grainte model </a:t>
            </a:r>
            <a:r>
              <a:rPr b="0" i="0" lang="en-US" sz="1800" u="none" cap="none" strike="noStrike">
                <a:solidFill>
                  <a:srgbClr val="000000"/>
                </a:solidFill>
                <a:latin typeface="Arial"/>
                <a:ea typeface="Arial"/>
                <a:cs typeface="Arial"/>
                <a:sym typeface="Arial"/>
              </a:rPr>
              <a:t>-  for eg – ibm-granite-3-2-8b – For natural language understanding, reasoning, and personalization</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Cloud </a:t>
            </a:r>
            <a:r>
              <a:rPr b="0" i="0" lang="en-US" sz="1800" u="none" cap="none" strike="noStrike">
                <a:solidFill>
                  <a:srgbClr val="000000"/>
                </a:solidFill>
                <a:latin typeface="Arial"/>
                <a:ea typeface="Arial"/>
                <a:cs typeface="Arial"/>
                <a:sym typeface="Arial"/>
              </a:rPr>
              <a:t>– It provides the infrastructure to build, deploy, and scale the Nutrition Agent efficiently. IBM Cloud enables a </a:t>
            </a:r>
            <a:r>
              <a:rPr b="1" i="0" lang="en-US" sz="1800" u="none" cap="none" strike="noStrike">
                <a:solidFill>
                  <a:srgbClr val="000000"/>
                </a:solidFill>
                <a:latin typeface="Arial"/>
                <a:ea typeface="Arial"/>
                <a:cs typeface="Arial"/>
                <a:sym typeface="Arial"/>
              </a:rPr>
              <a:t>reliable, secure, and scalable environment</a:t>
            </a:r>
            <a:r>
              <a:rPr b="0" i="0" lang="en-US" sz="1800" u="none" cap="none" strike="noStrike">
                <a:solidFill>
                  <a:srgbClr val="000000"/>
                </a:solidFill>
                <a:latin typeface="Arial"/>
                <a:ea typeface="Arial"/>
                <a:cs typeface="Arial"/>
                <a:sym typeface="Arial"/>
              </a:rPr>
              <a:t> for deploying the Nutrition Agent.</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RAG– </a:t>
            </a:r>
            <a:r>
              <a:rPr b="0" i="0" lang="en-US" sz="1800" u="none" cap="none" strike="noStrike">
                <a:solidFill>
                  <a:srgbClr val="000000"/>
                </a:solidFill>
                <a:latin typeface="Arial"/>
                <a:ea typeface="Arial"/>
                <a:cs typeface="Arial"/>
                <a:sym typeface="Arial"/>
              </a:rPr>
              <a:t>RAG to </a:t>
            </a:r>
            <a:r>
              <a:rPr b="1" i="0" lang="en-US" sz="1800" u="none" cap="none" strike="noStrike">
                <a:solidFill>
                  <a:srgbClr val="000000"/>
                </a:solidFill>
                <a:latin typeface="Arial"/>
                <a:ea typeface="Arial"/>
                <a:cs typeface="Arial"/>
                <a:sym typeface="Arial"/>
              </a:rPr>
              <a:t>fetch real data first, then generate intelligent answers</a:t>
            </a:r>
            <a:r>
              <a:rPr b="0" i="0" lang="en-US" sz="1800" u="none" cap="none" strike="noStrike">
                <a:solidFill>
                  <a:srgbClr val="000000"/>
                </a:solidFill>
                <a:latin typeface="Arial"/>
                <a:ea typeface="Arial"/>
                <a:cs typeface="Arial"/>
                <a:sym typeface="Arial"/>
              </a:rPr>
              <a:t>, making the Nutrition Agent more trustworthy and effective.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Watsonx.ai - </a:t>
            </a:r>
            <a:r>
              <a:rPr b="0" i="0" lang="en-US" sz="1800" u="none" cap="none" strike="noStrike">
                <a:solidFill>
                  <a:srgbClr val="000000"/>
                </a:solidFill>
                <a:latin typeface="Arial"/>
                <a:ea typeface="Arial"/>
                <a:cs typeface="Arial"/>
                <a:sym typeface="Arial"/>
              </a:rPr>
              <a:t>For model deployment, embeddings, and AI governance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Vector Database </a:t>
            </a:r>
            <a:r>
              <a:rPr b="0" i="0" lang="en-US" sz="1800" u="none" cap="none" strike="noStrike">
                <a:solidFill>
                  <a:srgbClr val="000000"/>
                </a:solidFill>
                <a:latin typeface="Arial"/>
                <a:ea typeface="Arial"/>
                <a:cs typeface="Arial"/>
                <a:sym typeface="Arial"/>
              </a:rPr>
              <a:t>(FAISS/Chroma) – For RAG-based nutritional data retrieval</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Required Files created using IBM bob -</a:t>
            </a:r>
            <a:endParaRPr b="1" i="0" sz="2400" u="none" cap="none" strike="noStrike">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474822" y="863187"/>
            <a:ext cx="8823900" cy="1908600"/>
          </a:xfrm>
          <a:prstGeom prst="rect">
            <a:avLst/>
          </a:prstGeom>
          <a:noFill/>
          <a:ln>
            <a:noFill/>
          </a:ln>
        </p:spPr>
        <p:txBody>
          <a:bodyPr anchorCtr="0" anchor="t" bIns="45700" lIns="91425" spcFirstLastPara="1" rIns="91425" wrap="square" tIns="45700">
            <a:spAutoFit/>
          </a:bodyPr>
          <a:lstStyle/>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App.py</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Requirements.txt</a:t>
            </a:r>
            <a:endParaRPr b="0" i="0" sz="18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sz="1800"/>
          </a:p>
          <a:p>
            <a:pPr indent="-342900" lvl="0" marL="342900" marR="0" rtl="0" algn="l">
              <a:lnSpc>
                <a:spcPct val="100000"/>
              </a:lnSpc>
              <a:spcBef>
                <a:spcPts val="0"/>
              </a:spcBef>
              <a:spcAft>
                <a:spcPts val="0"/>
              </a:spcAft>
              <a:buSzPts val="1800"/>
              <a:buAutoNum type="arabicPeriod"/>
            </a:pPr>
            <a:r>
              <a:rPr lang="en-US" sz="1800"/>
              <a:t>run.bat</a:t>
            </a:r>
            <a:endParaRPr sz="1800"/>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8"/>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51D3A"/>
                </a:solidFill>
                <a:latin typeface="Times New Roman"/>
                <a:ea typeface="Times New Roman"/>
                <a:cs typeface="Times New Roman"/>
                <a:sym typeface="Times New Roman"/>
              </a:rPr>
              <a:t>IBM Bob Screenshots:</a:t>
            </a:r>
            <a:endParaRPr b="1" i="0" sz="2400" u="none" cap="none" strike="noStrike">
              <a:solidFill>
                <a:srgbClr val="000000"/>
              </a:solidFill>
              <a:latin typeface="Arial"/>
              <a:ea typeface="Arial"/>
              <a:cs typeface="Arial"/>
              <a:sym typeface="Arial"/>
            </a:endParaRPr>
          </a:p>
        </p:txBody>
      </p:sp>
      <p:pic>
        <p:nvPicPr>
          <p:cNvPr id="125" name="Google Shape;125;p38"/>
          <p:cNvPicPr preferRelativeResize="0"/>
          <p:nvPr/>
        </p:nvPicPr>
        <p:blipFill>
          <a:blip r:embed="rId3">
            <a:alphaModFix/>
          </a:blip>
          <a:stretch>
            <a:fillRect/>
          </a:stretch>
        </p:blipFill>
        <p:spPr>
          <a:xfrm>
            <a:off x="725913" y="851497"/>
            <a:ext cx="10740182" cy="578145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9"/>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31" name="Google Shape;131;p9"/>
          <p:cNvSpPr txBox="1"/>
          <p:nvPr/>
        </p:nvSpPr>
        <p:spPr>
          <a:xfrm>
            <a:off x="475488" y="283464"/>
            <a:ext cx="931773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32" name="Google Shape;132;p9"/>
          <p:cNvSpPr txBox="1"/>
          <p:nvPr/>
        </p:nvSpPr>
        <p:spPr>
          <a:xfrm>
            <a:off x="621792" y="1167493"/>
            <a:ext cx="7406640"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Role of Agentic AI in Nutrition Agent</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Agentic AI</a:t>
            </a:r>
            <a:r>
              <a:rPr b="0" i="0" lang="en-US" sz="1400" u="none" cap="none" strike="noStrike">
                <a:solidFill>
                  <a:srgbClr val="000000"/>
                </a:solidFill>
                <a:latin typeface="Arial"/>
                <a:ea typeface="Arial"/>
                <a:cs typeface="Arial"/>
                <a:sym typeface="Arial"/>
              </a:rPr>
              <a:t> enables the Nutrition Agent to function as an intelligent, autonomous system rather than a simple chatbot. Using </a:t>
            </a:r>
            <a:r>
              <a:rPr b="1" i="0" lang="en-US" sz="1400" u="none" cap="none" strike="noStrike">
                <a:solidFill>
                  <a:srgbClr val="000000"/>
                </a:solidFill>
                <a:latin typeface="Arial"/>
                <a:ea typeface="Arial"/>
                <a:cs typeface="Arial"/>
                <a:sym typeface="Arial"/>
              </a:rPr>
              <a:t>IBM watsonx.ai</a:t>
            </a:r>
            <a:r>
              <a:rPr b="0" i="0" lang="en-US" sz="1400" u="none" cap="none" strike="noStrike">
                <a:solidFill>
                  <a:srgbClr val="000000"/>
                </a:solidFill>
                <a:latin typeface="Arial"/>
                <a:ea typeface="Arial"/>
                <a:cs typeface="Arial"/>
                <a:sym typeface="Arial"/>
              </a:rPr>
              <a:t> and </a:t>
            </a:r>
            <a:r>
              <a:rPr b="1" i="0" lang="en-US" sz="1400" u="none" cap="none" strike="noStrike">
                <a:solidFill>
                  <a:srgbClr val="000000"/>
                </a:solidFill>
                <a:latin typeface="Arial"/>
                <a:ea typeface="Arial"/>
                <a:cs typeface="Arial"/>
                <a:sym typeface="Arial"/>
              </a:rPr>
              <a:t>IBM Granite models</a:t>
            </a:r>
            <a:r>
              <a:rPr b="0" i="0" lang="en-US" sz="1400" u="none" cap="none" strike="noStrike">
                <a:solidFill>
                  <a:srgbClr val="000000"/>
                </a:solidFill>
                <a:latin typeface="Arial"/>
                <a:ea typeface="Arial"/>
                <a:cs typeface="Arial"/>
                <a:sym typeface="Arial"/>
              </a:rPr>
              <a:t>, it coordinates multiple specialized agents to deliver personalized nutrition guidance.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Each agent performs a specific role—such as retrieving nutritional data, generating diet plans, providing health advice, and analyzing food logs—while working collaboratively. This </a:t>
            </a:r>
            <a:r>
              <a:rPr b="1" i="0" lang="en-US" sz="1400" u="none" cap="none" strike="noStrike">
                <a:solidFill>
                  <a:srgbClr val="000000"/>
                </a:solidFill>
                <a:latin typeface="Arial"/>
                <a:ea typeface="Arial"/>
                <a:cs typeface="Arial"/>
                <a:sym typeface="Arial"/>
              </a:rPr>
              <a:t>multi-agent approach</a:t>
            </a:r>
            <a:r>
              <a:rPr b="0" i="0" lang="en-US" sz="1400" u="none" cap="none" strike="noStrike">
                <a:solidFill>
                  <a:srgbClr val="000000"/>
                </a:solidFill>
                <a:latin typeface="Arial"/>
                <a:ea typeface="Arial"/>
                <a:cs typeface="Arial"/>
                <a:sym typeface="Arial"/>
              </a:rPr>
              <a:t> ensures efficient task execution and accurate results.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Agentic AI also brings </a:t>
            </a:r>
            <a:r>
              <a:rPr b="1" i="0" lang="en-US" sz="1400" u="none" cap="none" strike="noStrike">
                <a:solidFill>
                  <a:srgbClr val="000000"/>
                </a:solidFill>
                <a:latin typeface="Arial"/>
                <a:ea typeface="Arial"/>
                <a:cs typeface="Arial"/>
                <a:sym typeface="Arial"/>
              </a:rPr>
              <a:t>context awareness</a:t>
            </a:r>
            <a:r>
              <a:rPr b="0" i="0" lang="en-US" sz="1400" u="none" cap="none" strike="noStrike">
                <a:solidFill>
                  <a:srgbClr val="000000"/>
                </a:solidFill>
                <a:latin typeface="Arial"/>
                <a:ea typeface="Arial"/>
                <a:cs typeface="Arial"/>
                <a:sym typeface="Arial"/>
              </a:rPr>
              <a:t>, understanding user details like age, health conditions, and fitness goals to generate tailored recommendations. It supports </a:t>
            </a:r>
            <a:r>
              <a:rPr b="1" i="0" lang="en-US" sz="1400" u="none" cap="none" strike="noStrike">
                <a:solidFill>
                  <a:srgbClr val="000000"/>
                </a:solidFill>
                <a:latin typeface="Arial"/>
                <a:ea typeface="Arial"/>
                <a:cs typeface="Arial"/>
                <a:sym typeface="Arial"/>
              </a:rPr>
              <a:t>real-time adaptation</a:t>
            </a:r>
            <a:r>
              <a:rPr b="0" i="0" lang="en-US" sz="1400" u="none" cap="none" strike="noStrike">
                <a:solidFill>
                  <a:srgbClr val="000000"/>
                </a:solidFill>
                <a:latin typeface="Arial"/>
                <a:ea typeface="Arial"/>
                <a:cs typeface="Arial"/>
                <a:sym typeface="Arial"/>
              </a:rPr>
              <a:t>, continuously updating suggestions based on user inputs like daily meals.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Additionally, agents communicate with each other, enabling better decision-making and improved outcomes.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Overall, Agentic AI makes the system proactive, personalized, and goal-driven, acting like a </a:t>
            </a:r>
            <a:r>
              <a:rPr b="1" i="0" lang="en-US" sz="1400" u="none" cap="none" strike="noStrike">
                <a:solidFill>
                  <a:srgbClr val="000000"/>
                </a:solidFill>
                <a:latin typeface="Arial"/>
                <a:ea typeface="Arial"/>
                <a:cs typeface="Arial"/>
                <a:sym typeface="Arial"/>
              </a:rPr>
              <a:t>smart digital nutritionist</a:t>
            </a:r>
            <a:r>
              <a:rPr b="0" i="0" lang="en-US" sz="1400" u="none" cap="none" strike="noStrike">
                <a:solidFill>
                  <a:srgbClr val="000000"/>
                </a:solidFill>
                <a:latin typeface="Arial"/>
                <a:ea typeface="Arial"/>
                <a:cs typeface="Arial"/>
                <a:sym typeface="Arial"/>
              </a:rPr>
              <a:t> that helps users maintain a healthy lifestyle.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f827d8da96_1_31"/>
          <p:cNvSpPr/>
          <p:nvPr/>
        </p:nvSpPr>
        <p:spPr>
          <a:xfrm>
            <a:off x="793192" y="341560"/>
            <a:ext cx="64446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Token Usage </a:t>
            </a:r>
            <a:endParaRPr b="1" i="0" sz="2400" u="none" cap="none" strike="noStrike">
              <a:solidFill>
                <a:srgbClr val="000000"/>
              </a:solidFill>
              <a:latin typeface="Arial"/>
              <a:ea typeface="Arial"/>
              <a:cs typeface="Arial"/>
              <a:sym typeface="Arial"/>
            </a:endParaRPr>
          </a:p>
        </p:txBody>
      </p:sp>
      <p:sp>
        <p:nvSpPr>
          <p:cNvPr id="138" name="Google Shape;138;g3f827d8da96_1_31"/>
          <p:cNvSpPr txBox="1"/>
          <p:nvPr/>
        </p:nvSpPr>
        <p:spPr>
          <a:xfrm>
            <a:off x="897392" y="1042133"/>
            <a:ext cx="4371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t>489</a:t>
            </a:r>
            <a:r>
              <a:rPr b="0" i="0" lang="en-US" sz="1400" u="none" cap="none" strike="noStrike">
                <a:solidFill>
                  <a:srgbClr val="000000"/>
                </a:solidFill>
                <a:latin typeface="Arial"/>
                <a:ea typeface="Arial"/>
                <a:cs typeface="Arial"/>
                <a:sym typeface="Arial"/>
              </a:rPr>
              <a:t> token are used</a:t>
            </a:r>
            <a:endParaRPr/>
          </a:p>
        </p:txBody>
      </p:sp>
      <p:sp>
        <p:nvSpPr>
          <p:cNvPr id="139" name="Google Shape;139;g3f827d8da96_1_31"/>
          <p:cNvSpPr txBox="1"/>
          <p:nvPr/>
        </p:nvSpPr>
        <p:spPr>
          <a:xfrm>
            <a:off x="1278639" y="1718067"/>
            <a:ext cx="2743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sng" cap="none" strike="noStrike">
                <a:solidFill>
                  <a:srgbClr val="000000"/>
                </a:solidFill>
                <a:latin typeface="Arial"/>
                <a:ea typeface="Arial"/>
                <a:cs typeface="Arial"/>
                <a:sym typeface="Arial"/>
              </a:rPr>
              <a:t>Before Prompt</a:t>
            </a:r>
            <a:endParaRPr/>
          </a:p>
        </p:txBody>
      </p:sp>
      <p:sp>
        <p:nvSpPr>
          <p:cNvPr id="140" name="Google Shape;140;g3f827d8da96_1_31"/>
          <p:cNvSpPr txBox="1"/>
          <p:nvPr/>
        </p:nvSpPr>
        <p:spPr>
          <a:xfrm>
            <a:off x="7106828" y="1722919"/>
            <a:ext cx="2743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sng" cap="none" strike="noStrike">
                <a:solidFill>
                  <a:srgbClr val="000000"/>
                </a:solidFill>
                <a:latin typeface="Arial"/>
                <a:ea typeface="Arial"/>
                <a:cs typeface="Arial"/>
                <a:sym typeface="Arial"/>
              </a:rPr>
              <a:t>After the Prompt</a:t>
            </a:r>
            <a:endParaRPr/>
          </a:p>
        </p:txBody>
      </p:sp>
      <p:pic>
        <p:nvPicPr>
          <p:cNvPr id="141" name="Google Shape;141;g3f827d8da96_1_31"/>
          <p:cNvPicPr preferRelativeResize="0"/>
          <p:nvPr/>
        </p:nvPicPr>
        <p:blipFill>
          <a:blip r:embed="rId3">
            <a:alphaModFix/>
          </a:blip>
          <a:stretch>
            <a:fillRect/>
          </a:stretch>
        </p:blipFill>
        <p:spPr>
          <a:xfrm>
            <a:off x="7259227" y="2275519"/>
            <a:ext cx="4780372" cy="4389933"/>
          </a:xfrm>
          <a:prstGeom prst="rect">
            <a:avLst/>
          </a:prstGeom>
          <a:noFill/>
          <a:ln>
            <a:noFill/>
          </a:ln>
        </p:spPr>
      </p:pic>
      <p:pic>
        <p:nvPicPr>
          <p:cNvPr id="142" name="Google Shape;142;g3f827d8da96_1_31"/>
          <p:cNvPicPr preferRelativeResize="0"/>
          <p:nvPr/>
        </p:nvPicPr>
        <p:blipFill>
          <a:blip r:embed="rId4">
            <a:alphaModFix/>
          </a:blip>
          <a:stretch>
            <a:fillRect/>
          </a:stretch>
        </p:blipFill>
        <p:spPr>
          <a:xfrm>
            <a:off x="152400" y="2270667"/>
            <a:ext cx="4803249" cy="443493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41"/>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48" name="Google Shape;148;p4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9" name="Google Shape;149;p4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0" name="Google Shape;150;p4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pic>
        <p:nvPicPr>
          <p:cNvPr id="151" name="Google Shape;151;p41"/>
          <p:cNvPicPr preferRelativeResize="0"/>
          <p:nvPr/>
        </p:nvPicPr>
        <p:blipFill>
          <a:blip r:embed="rId3">
            <a:alphaModFix/>
          </a:blip>
          <a:stretch>
            <a:fillRect/>
          </a:stretch>
        </p:blipFill>
        <p:spPr>
          <a:xfrm>
            <a:off x="807398" y="517550"/>
            <a:ext cx="10825274" cy="58228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2"/>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pic>
        <p:nvPicPr>
          <p:cNvPr id="157" name="Google Shape;157;p42"/>
          <p:cNvPicPr preferRelativeResize="0"/>
          <p:nvPr/>
        </p:nvPicPr>
        <p:blipFill>
          <a:blip r:embed="rId3">
            <a:alphaModFix/>
          </a:blip>
          <a:stretch>
            <a:fillRect/>
          </a:stretch>
        </p:blipFill>
        <p:spPr>
          <a:xfrm>
            <a:off x="674563" y="816977"/>
            <a:ext cx="11241572" cy="573622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f827d8da96_1_12"/>
          <p:cNvSpPr/>
          <p:nvPr/>
        </p:nvSpPr>
        <p:spPr>
          <a:xfrm>
            <a:off x="409144" y="112960"/>
            <a:ext cx="64446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pic>
        <p:nvPicPr>
          <p:cNvPr id="163" name="Google Shape;163;g3f827d8da96_1_12"/>
          <p:cNvPicPr preferRelativeResize="0"/>
          <p:nvPr/>
        </p:nvPicPr>
        <p:blipFill>
          <a:blip r:embed="rId3">
            <a:alphaModFix/>
          </a:blip>
          <a:stretch>
            <a:fillRect/>
          </a:stretch>
        </p:blipFill>
        <p:spPr>
          <a:xfrm>
            <a:off x="152400" y="969460"/>
            <a:ext cx="11744252" cy="573614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f827d8da96_1_18"/>
          <p:cNvSpPr/>
          <p:nvPr/>
        </p:nvSpPr>
        <p:spPr>
          <a:xfrm>
            <a:off x="409144" y="112960"/>
            <a:ext cx="64446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pic>
        <p:nvPicPr>
          <p:cNvPr id="169" name="Google Shape;169;g3f827d8da96_1_18"/>
          <p:cNvPicPr preferRelativeResize="0"/>
          <p:nvPr/>
        </p:nvPicPr>
        <p:blipFill>
          <a:blip r:embed="rId3">
            <a:alphaModFix/>
          </a:blip>
          <a:stretch>
            <a:fillRect/>
          </a:stretch>
        </p:blipFill>
        <p:spPr>
          <a:xfrm>
            <a:off x="778413" y="817060"/>
            <a:ext cx="10635172" cy="573613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44"/>
          <p:cNvSpPr txBox="1"/>
          <p:nvPr/>
        </p:nvSpPr>
        <p:spPr>
          <a:xfrm>
            <a:off x="777240" y="484632"/>
            <a:ext cx="7123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75" name="Google Shape;175;p44"/>
          <p:cNvSpPr txBox="1"/>
          <p:nvPr/>
        </p:nvSpPr>
        <p:spPr>
          <a:xfrm>
            <a:off x="777240" y="1207008"/>
            <a:ext cx="11301900" cy="3586500"/>
          </a:xfrm>
          <a:prstGeom prst="rect">
            <a:avLst/>
          </a:prstGeom>
          <a:noFill/>
          <a:ln>
            <a:noFill/>
          </a:ln>
        </p:spPr>
        <p:txBody>
          <a:bodyPr anchorCtr="0" anchor="t" bIns="45700" lIns="91425" spcFirstLastPara="1" rIns="91425" wrap="square" tIns="45700">
            <a:spAutoFit/>
          </a:bodyPr>
          <a:lstStyle/>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Multi-Agent AI System: Uses specialized AI agents for awareness, early detection, empathetic support, prediction, and crisis escalation, coordinated by IBM Orchestrate.</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Proactive Risk Prediction: Identifies stress, anxiety, and burnout trends early, enabling preventive support before a mental health crisis develops.</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Trusted RAG-Based Responses: Combines IBM Granite Models with Retrieval-Augmented Generation (RAG) to provide accurate, evidence-based mental health guidance.</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Consent-Driven Human Escalation: Detects high-risk situations and securely connects users to helplines, counselors, or trusted contacts with user consent.</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Personalized &amp; Safe Experience: Delivers tailored wellness recommendations from mood logs and journals while ensuring privacy, AI safety guardrails, and clear medical disclaimers.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45"/>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81" name="Google Shape;181;p45"/>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just">
              <a:lnSpc>
                <a:spcPct val="162162"/>
              </a:lnSpc>
              <a:spcBef>
                <a:spcPts val="0"/>
              </a:spcBef>
              <a:spcAft>
                <a:spcPts val="0"/>
              </a:spcAft>
              <a:buNone/>
            </a:pPr>
            <a:r>
              <a:rPr lang="en-US" sz="2000">
                <a:solidFill>
                  <a:srgbClr val="2B3541"/>
                </a:solidFill>
              </a:rPr>
              <a:t>https://github.com/vikas-shanabhog/Mindguard_AI_using_ibm_bob</a:t>
            </a:r>
            <a:endParaRPr sz="2000"/>
          </a:p>
          <a:p>
            <a:pPr indent="0" lvl="0" marL="0" marR="0" rtl="0" algn="l">
              <a:lnSpc>
                <a:spcPct val="162162"/>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46"/>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87" name="Google Shape;187;p46"/>
          <p:cNvSpPr/>
          <p:nvPr/>
        </p:nvSpPr>
        <p:spPr>
          <a:xfrm>
            <a:off x="1218725" y="1221726"/>
            <a:ext cx="9214500" cy="4749000"/>
          </a:xfrm>
          <a:prstGeom prst="rect">
            <a:avLst/>
          </a:prstGeom>
          <a:noFill/>
          <a:ln>
            <a:noFill/>
          </a:ln>
        </p:spPr>
        <p:txBody>
          <a:bodyPr anchorCtr="0" anchor="t" bIns="0" lIns="0" spcFirstLastPara="1" rIns="0" wrap="square" tIns="0">
            <a:noAutofit/>
          </a:bodyPr>
          <a:lstStyle/>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Multilingual &amp; Voice Support: Expand to regional languages and voice-based interactions to improve accessibility for diverse users.</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Wearable &amp; Health App Integration: Connect with smartwatches and fitness trackers for real-time monitoring of sleep, heart rate, and stress levels (with user consent).</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Advanced Predictive Analytics: Use AI to forecast long-term mental health trends and provide personalized preventive wellness plans.</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Healthcare &amp; Workplace Integration: Integrate with hospitals, educational institutions, and corporate wellness platforms for seamless referrals and support.</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n-US" sz="2000">
                <a:solidFill>
                  <a:schemeClr val="dk1"/>
                </a:solidFill>
              </a:rPr>
              <a:t>Personalized AI Coaching: Introduce adaptive wellness programs, CBT-based exercises, and continuous follow-ups tailored to each user's progress while maintaining strong privacy and ethical AI standards.</a:t>
            </a:r>
            <a:endParaRPr sz="2000">
              <a:solidFill>
                <a:schemeClr val="dk1"/>
              </a:solidFill>
            </a:endParaRPr>
          </a:p>
          <a:p>
            <a:pPr indent="0" lvl="0" marL="0" marR="0" rtl="0" algn="l">
              <a:lnSpc>
                <a:spcPct val="162162"/>
              </a:lnSpc>
              <a:spcBef>
                <a:spcPts val="300"/>
              </a:spcBef>
              <a:spcAft>
                <a:spcPts val="0"/>
              </a:spcAft>
              <a:buClr>
                <a:srgbClr val="2B3541"/>
              </a:buClr>
              <a:buSzPts val="1850"/>
              <a:buFont typeface="Times New Roman"/>
              <a:buNone/>
            </a:pPr>
            <a:r>
              <a:t/>
            </a:r>
            <a:endParaRPr b="1" sz="2050">
              <a:solidFill>
                <a:srgbClr val="2B354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47"/>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93" name="Google Shape;193;p47"/>
          <p:cNvPicPr preferRelativeResize="0"/>
          <p:nvPr/>
        </p:nvPicPr>
        <p:blipFill>
          <a:blip r:embed="rId3">
            <a:alphaModFix/>
          </a:blip>
          <a:stretch>
            <a:fillRect/>
          </a:stretch>
        </p:blipFill>
        <p:spPr>
          <a:xfrm>
            <a:off x="2574625" y="884488"/>
            <a:ext cx="7611237" cy="566871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48"/>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99" name="Google Shape;199;p48"/>
          <p:cNvPicPr preferRelativeResize="0"/>
          <p:nvPr/>
        </p:nvPicPr>
        <p:blipFill>
          <a:blip r:embed="rId3">
            <a:alphaModFix/>
          </a:blip>
          <a:stretch>
            <a:fillRect/>
          </a:stretch>
        </p:blipFill>
        <p:spPr>
          <a:xfrm>
            <a:off x="1298700" y="903499"/>
            <a:ext cx="9187283" cy="56497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